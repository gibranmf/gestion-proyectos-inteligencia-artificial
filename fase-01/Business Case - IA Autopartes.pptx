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46944"/>
            <a:ext cx="3748087" cy="371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387155"/>
            <a:ext cx="7620000" cy="72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356544"/>
            <a:ext cx="950118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Poppins"/>
              </a:rPr>
              <a:t>Automatización del Cruce de Autopartes mediante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44205"/>
            <a:ext cx="76104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Lato"/>
              </a:rPr>
              <a:t>Optimización operativa de catálogos y equivalencias entre AutoZone y Proveedores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634805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62" y="4777680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1125" y="4644330"/>
            <a:ext cx="412051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oppins SemiBold"/>
              </a:rPr>
              <a:t>Gibran Martínez Figueroa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4901505"/>
            <a:ext cx="3924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Lato"/>
              </a:rPr>
              <a:t>Gestión de Proyectos de Inteligencia Artificial • Sector Automotriz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4512"/>
            <a:ext cx="5405437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814512"/>
            <a:ext cx="5405437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86212"/>
            <a:ext cx="5405437" cy="1933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3986212"/>
            <a:ext cx="5405437" cy="1933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Diagnóstico del Proceso Actual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06216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2662237"/>
            <a:ext cx="51156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oppins SemiBold"/>
              </a:rPr>
              <a:t>Proceso 100%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043237"/>
            <a:ext cx="48720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El cruce de código e identificación de equivalencias depende por completo de la revisión visual de catálogos de proveedores.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12" y="2062162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00812" y="2662237"/>
            <a:ext cx="51156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oppins SemiBold"/>
              </a:rPr>
              <a:t>Alto Consumo de Tiempo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0812" y="3043237"/>
            <a:ext cx="48720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Los analistas dedican jornadas extensas en tareas repetitivas para completar cerca de 20 procesos de cruce al mes.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23386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50" y="4833937"/>
            <a:ext cx="51156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oppins SemiBold"/>
              </a:rPr>
              <a:t>Riesgo de Errores Humanos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5214937"/>
            <a:ext cx="48720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La fatiga operativa incrementa la probabilidad de inconsistencias en la coincidencia de especificaciones técnicas.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12" y="4233862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0812" y="4833937"/>
            <a:ext cx="51156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oppins SemiBold"/>
              </a:rPr>
              <a:t>Costo de Oportunidad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812" y="5214937"/>
            <a:ext cx="48720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Saturación del equipo en tareas mecánicas, impidiendo la atención de actividades estratégicas de alto valor para el negocio.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2176462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112" y="2176462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" y="4348162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0825" y="4348162"/>
            <a:ext cx="2571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6975"/>
            <a:ext cx="361950" cy="36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00425"/>
            <a:ext cx="361950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33875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590675"/>
            <a:ext cx="5550693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Solución Tecnológica de IA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881312" y="1890712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3950" y="2466975"/>
            <a:ext cx="497062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Procesamiento de Lenguaje Natural (NLP)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2762250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Modelos avanzados de IA que analizan y comparan semánticamente las descripciones de productos de AutoZone con las de los proveedores.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400425"/>
            <a:ext cx="497062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Generación de Sugerencias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695700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Algoritmo inteligente que asigna un porcentaje de confianza a cada equivalencia de autoparte calculada automáticamente.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333875"/>
            <a:ext cx="497062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oppins SemiBold"/>
              </a:rPr>
              <a:t>Validación "Human-in-the-Loop"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629150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El analista valida rápidamente únicamente las sugerencias generadas, acelerando el flujo final sin perder control de calidad.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1700"/>
            <a:ext cx="3524250" cy="3390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171700"/>
            <a:ext cx="3524250" cy="3390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171700"/>
            <a:ext cx="3524250" cy="3390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Impacto Estratégico e Integración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50" y="3067050"/>
            <a:ext cx="318039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oppins"/>
              </a:rPr>
              <a:t>Operativo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067050"/>
            <a:ext cx="318039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oppins"/>
              </a:rPr>
              <a:t>Estratégico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067050"/>
            <a:ext cx="318039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oppins"/>
              </a:rPr>
              <a:t>Financiero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543175"/>
            <a:ext cx="3810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8700" y="35528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Reducción del 60% en tiempos de ciclo por proceso.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1243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Eliminación de cargas operativas repetitivas.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6958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Aumento sustancial en la productividad por analista.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543175"/>
            <a:ext cx="3810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91075" y="35528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Incremento en la precisión y calidad del catálogo.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075" y="41243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Aceleración directa de la transformación digital.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075" y="46958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Fundamento escalable para futuros modelos de IA.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543175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53450" y="35528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Drástica reducción del retrabajo en devoluciones.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3450" y="41243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Disminución eficiente del costo operativo por cruce.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3450" y="4695825"/>
            <a:ext cx="2819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Optimización del retorno sobre el capital humano.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35528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8102E"/>
                </a:solidFill>
                <a:latin typeface="Lato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41243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8102E"/>
                </a:solidFill>
                <a:latin typeface="Lat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6958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8102E"/>
                </a:solidFill>
                <a:latin typeface="Lato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525" y="35528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525" y="41243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525" y="46958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35528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6A34A"/>
                </a:solidFill>
                <a:latin typeface="Lato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3900" y="41243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6A34A"/>
                </a:solidFill>
                <a:latin typeface="Lato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4695825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6A34A"/>
                </a:solidFill>
                <a:latin typeface="Lato"/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52550"/>
            <a:ext cx="11049000" cy="5029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22165"/>
            <a:ext cx="2619375" cy="9752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2322165"/>
            <a:ext cx="2619375" cy="9752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322165"/>
            <a:ext cx="2619375" cy="97527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2322165"/>
            <a:ext cx="2619375" cy="975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Análisis Financiero y Retorno de Inversión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522190"/>
            <a:ext cx="2314575" cy="356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b="1" sz="2550" i="0" u="none">
                <a:solidFill>
                  <a:srgbClr val="C8102E"/>
                </a:solidFill>
                <a:latin typeface="Poppins"/>
              </a:rPr>
              <a:t>$450K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935485"/>
            <a:ext cx="2314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 SemiBold"/>
              </a:rPr>
              <a:t>INVERSIÓN INICIAL (MXN)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3775" y="2522190"/>
            <a:ext cx="2314575" cy="356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b="1" sz="2550" i="0" u="none">
                <a:solidFill>
                  <a:srgbClr val="C8102E"/>
                </a:solidFill>
                <a:latin typeface="Poppins"/>
              </a:rPr>
              <a:t>$1.53M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3775" y="2935485"/>
            <a:ext cx="2314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 SemiBold"/>
              </a:rPr>
              <a:t>BENEFICIOS (3 AÑOS)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2522190"/>
            <a:ext cx="2314575" cy="356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b="1" sz="2550" i="0" u="none">
                <a:solidFill>
                  <a:srgbClr val="38BDF8"/>
                </a:solidFill>
                <a:latin typeface="Poppins"/>
              </a:rPr>
              <a:t>241.3%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3650" y="2935485"/>
            <a:ext cx="2314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Lato SemiBold"/>
              </a:rPr>
              <a:t>ROI ESTIMADO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525" y="2522190"/>
            <a:ext cx="2314575" cy="356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b="1" sz="2550" i="0" u="none">
                <a:solidFill>
                  <a:srgbClr val="C8102E"/>
                </a:solidFill>
                <a:latin typeface="Poppins"/>
              </a:rPr>
              <a:t>0.88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525" y="2935485"/>
            <a:ext cx="2314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 SemiBold"/>
              </a:rPr>
              <a:t>PAYBACK (AÑOS)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1200"/>
            <a:ext cx="110490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Comparativa: Tradicional vs. Inteligencia Artificial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1990725"/>
          <a:ext cx="11029948" cy="375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46796"/>
                <a:gridCol w="3909119"/>
                <a:gridCol w="4174033"/>
              </a:tblGrid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oppins SemiBold"/>
                        </a:rPr>
                        <a:t>Criterio de Evaluación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oppins SemiBold"/>
                        </a:rPr>
                        <a:t>Proceso Tradicional (Manual)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oppins SemiBold"/>
                        </a:rPr>
                        <a:t>Solución Automatizada con 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102E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Tiempo de Análisis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Días o semanas por cada catálogo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Minutos u horas de procesamiento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102E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Escalabilidad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Limitada por el headcount actual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Alta; capacidad para miles de ítems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102E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Precisión y Fatiga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Variable, sujeta a errores humanos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Consistente y estandarizada (&gt;95%)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102E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Productividad del Equipo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Baja (enfoque en captura manual)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Alta (enfoque en validación de valor)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102E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Consistencia de Criterios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Subjetiva según el analista asignado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Reglas algorítmicas unificadas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102E"/>
                    </a:solidFill>
                  </a:tcPr>
                </a:tc>
              </a:tr>
              <a:tr h="53612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Conocimiento Operativo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Vulnerable ante rotación de personal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Modelo centralizado en la empresa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10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3071812"/>
            <a:ext cx="2946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7821" y="3071812"/>
            <a:ext cx="3909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36941" y="3071812"/>
            <a:ext cx="4174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605212"/>
            <a:ext cx="2946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7821" y="3605212"/>
            <a:ext cx="3909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36941" y="3605212"/>
            <a:ext cx="4174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138612"/>
            <a:ext cx="2946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7821" y="4138612"/>
            <a:ext cx="3909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36941" y="4138612"/>
            <a:ext cx="4174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672012"/>
            <a:ext cx="2946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7821" y="4672012"/>
            <a:ext cx="3909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36941" y="4672012"/>
            <a:ext cx="4174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025" y="5205412"/>
            <a:ext cx="2946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7821" y="5205412"/>
            <a:ext cx="3909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36941" y="5205412"/>
            <a:ext cx="4174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41" y="3267075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441" y="4867275"/>
            <a:ext cx="1524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41" y="5400675"/>
            <a:ext cx="15240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441" y="2733675"/>
            <a:ext cx="15240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41" y="4333875"/>
            <a:ext cx="15240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441" y="3800475"/>
            <a:ext cx="15240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441" y="2733675"/>
            <a:ext cx="15240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41" y="3267075"/>
            <a:ext cx="1524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441" y="3800475"/>
            <a:ext cx="1524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41" y="4333875"/>
            <a:ext cx="1524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441" y="4867275"/>
            <a:ext cx="15240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441" y="5400675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6975"/>
            <a:ext cx="5429250" cy="130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66975"/>
            <a:ext cx="5429250" cy="1304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2400"/>
            <a:ext cx="5429250" cy="1304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962400"/>
            <a:ext cx="5429250" cy="1304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057525"/>
            <a:ext cx="502920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3057525"/>
            <a:ext cx="502920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552950"/>
            <a:ext cx="502920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4552950"/>
            <a:ext cx="502920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Gestión de Riesgos y Plan de Mitigación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525" y="2667000"/>
            <a:ext cx="50292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Lato"/>
              </a:rPr>
              <a:t>Cruces incorrectos generados por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2667000"/>
            <a:ext cx="50292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Lato"/>
              </a:rPr>
              <a:t>Degradación paulatina del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4162425"/>
            <a:ext cx="50292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Lato"/>
              </a:rPr>
              <a:t>Dependencia excesiva en la herramienta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4162425"/>
            <a:ext cx="50292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Lato"/>
              </a:rPr>
              <a:t>Cambios estructurales en catálogos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2667000"/>
            <a:ext cx="7620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2667000"/>
            <a:ext cx="76200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4162425"/>
            <a:ext cx="76200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4162425"/>
            <a:ext cx="7620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11049000" cy="2971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38725"/>
            <a:ext cx="11049000" cy="866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476625"/>
            <a:ext cx="327020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825" y="3476625"/>
            <a:ext cx="3270200" cy="942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9150" y="3476625"/>
            <a:ext cx="3270349" cy="942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Conclusión y Recomendación Estratégica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2705100"/>
            <a:ext cx="10287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Lato"/>
              </a:rPr>
              <a:t>La solución propuesta de Inteligencia Artificial para el cruce de autopartes representa una oportunidad de alta rentabilidad operativa y financiera para AutoZone.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9950" y="5319712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2238375"/>
            <a:ext cx="2476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43025" y="2209800"/>
            <a:ext cx="4686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Lato"/>
              </a:rPr>
              <a:t>Viabilidad de Implementación Confirmada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5229225"/>
            <a:ext cx="61107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oppins"/>
              </a:rPr>
              <a:t>Recomendación Ejecutiva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5514975"/>
            <a:ext cx="5819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FFFFF"/>
                </a:solidFill>
                <a:latin typeface="Lato"/>
              </a:rPr>
              <a:t>Aprobar el presupuesto de $450,000 MXN para iniciar inmediatamente la Fase de Implementación.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657600"/>
            <a:ext cx="34337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oppins"/>
              </a:rPr>
              <a:t>Retorno Acelerado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3990975"/>
            <a:ext cx="3270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Lato"/>
              </a:rPr>
              <a:t>Payback estimado en 0.88 años (10.5 meses) con un ROI proyectado superior al 240% a 3 años.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825" y="3657600"/>
            <a:ext cx="34337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oppins"/>
              </a:rPr>
              <a:t>Eficiencia Operativa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0825" y="3990975"/>
            <a:ext cx="3270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Lato"/>
              </a:rPr>
              <a:t>Liberación del 60% del tiempo de los analistas, eliminando el cuello de botella en cargas masivas.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9150" y="3657600"/>
            <a:ext cx="343386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oppins"/>
              </a:rPr>
              <a:t>Escalabilidad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9150" y="3990975"/>
            <a:ext cx="32703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Lato"/>
              </a:rPr>
              <a:t>Estandarización de catálogos y creación de capacidades internas en analítica avanzada de 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29025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75" y="354330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https://static.wixstatic.com/media/a03693_3aa5452e752d46c4a79e1c949eef290d~mv2.png/v1/fill/w_720,h_346,al_c,q_85,usm_0.66_1.00_0.01,enc_avif,quality_auto/s%20mess.png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396240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www.sparix.ai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